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0" r:id="rId3"/>
    <p:sldId id="259" r:id="rId4"/>
    <p:sldId id="264" r:id="rId5"/>
    <p:sldId id="261" r:id="rId6"/>
    <p:sldId id="258" r:id="rId7"/>
    <p:sldId id="265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09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93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5BF2C5-7DB8-4F97-B83C-DFF7ADBDB86D}" type="datetimeFigureOut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9719FC-25C3-46D8-9818-1D1688BBE0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4209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15DD4A-2A01-D2F8-6756-AD03AA1692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A4875B6-A56D-A4AA-A556-60491F441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E806767-246A-F2EA-76F4-932FB6560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F9C54-0FD4-4B99-902E-4D387F807DD9}" type="datetime1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F3F63AB-49D6-B7FA-F465-B2334D4DA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A99F190-8E0A-C5BC-A200-770492264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81DB7-0E70-4027-807F-6DE727BD0E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8650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5A63FF-F14C-B6DB-9E66-C4FD95D16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247985F-2882-C63E-C51B-ABEBDFB71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26B6CCC-FAE9-5D69-811B-E4D661450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F9643-C705-493F-89A6-B64A1FEF743E}" type="datetime1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DEABBEF-9D3E-3533-A7C4-6E1120A60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DFB4A68-C3AB-CF74-ECB1-A55E1E883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81DB7-0E70-4027-807F-6DE727BD0E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4265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8B148A-E535-D604-0064-1EF850DDB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795E89F-D7E9-D1B1-F909-6A1FC0D3D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087FE6C-1B36-EF0A-B054-194DF51C5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5C3A-E3FE-40C6-BA70-233595C41CF9}" type="datetime1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A6C6AEB-1F9D-EC82-B39C-D729535CD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90A07F4-6017-0E80-56CC-B11916840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81DB7-0E70-4027-807F-6DE727BD0E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4841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69981B-4A81-1038-F3B9-89F6E615F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91C6B23-C24D-06D5-9789-E0345472D5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3F6C94A-B463-CB1E-2443-919DF106F7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FD4D725-1EC4-1C79-2440-87B8B9B05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35553-3B26-4CDE-B39A-BBC0B1941413}" type="datetime1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FF02B68-55BA-217F-803C-2DBBC4BF7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8EE14D6-74E8-8768-54CC-D3208C3F3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81DB7-0E70-4027-807F-6DE727BD0E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9140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C04CB4-85A8-ED74-E6A7-4AF2C95A0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78FA436-326A-831E-9A69-DCB540D603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CE5C53C-1460-407C-4629-F892DC69A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FFAA60C-8ECA-9C0F-71BD-05F9F96060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C54B018-D744-BA1D-EF46-2B96A5EF6F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172DC21-222C-F1EA-3870-72F575600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67A76-E821-49DC-9B9F-78CA6F738150}" type="datetime1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BA23DDD-C964-BA0C-C005-A31272CDC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F75B3AF-F5CF-F9DF-175F-8D67579E0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81DB7-0E70-4027-807F-6DE727BD0E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8868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495C83-185F-00F8-5613-534E97991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1EA2C0E-CAAA-3695-B3E9-196EBC130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4903F-1301-4865-9049-EF9428F8899A}" type="datetime1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7B8F45B-E07B-B6C3-659F-2B26B273A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BC32A8F-513A-BC6C-0019-3E339E6BF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81DB7-0E70-4027-807F-6DE727BD0E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5278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B989C8A-8D4E-5DA1-2868-36CC706B5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5CF78-8151-49A8-B1B7-68D9DF82E2EF}" type="datetime1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2F802F6-94BA-AF19-E7CF-821841A63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6D5F3D-59E2-7F95-FDC5-2DE66223D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81DB7-0E70-4027-807F-6DE727BD0E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5799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605C1B-B063-A0B0-B62F-1DCD294A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4EBE5DC-39EA-C1DC-977E-18231BDDE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9DACFBE-5D6E-417C-80FE-47F226A27B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E4F1C4C-33F0-3C4E-DF4B-58370AD71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B2CBC-5A58-409B-8589-A710078ED5D4}" type="datetime1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56C4B77-9F90-0F03-6001-E39FC372A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539A666-0C82-6B87-0BA7-A3A4465D6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81DB7-0E70-4027-807F-6DE727BD0E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7697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EEF954-0F2F-0DDE-597A-946A7CC71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9578CB0-AB7E-00D7-3A8D-25F94C41C0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16491FB-3556-6EED-4DDF-46C30B5CAF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DC00CAA-8571-6999-4442-4BD46B164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ACB6C-7B14-41EC-8D7E-14CFF80CEEF4}" type="datetime1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46D1409-482E-26ED-8A4B-0A8B625D5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32A5FCA-25CD-69C4-3AC6-F5B1F90D0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81DB7-0E70-4027-807F-6DE727BD0E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9511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DB94C2-CE4E-7E46-9EDE-65ADEBDD5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BE2945F-0F53-4138-C6EA-7A374C0ABE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5F6971E-2327-632C-3F2E-340799479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6A4ED-D4D8-4A18-A147-61A9304C330A}" type="datetime1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9FD4A99-8ADB-8D7F-81F4-D911543A5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145E102-E182-0CDE-47C5-FCB4D955D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81DB7-0E70-4027-807F-6DE727BD0E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976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5674022-3D6D-F35D-CD07-BF4C56D2F2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726E269-436A-4577-E651-E31118A13D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ADF1C81-C622-8AEC-903D-F81416CA3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53AE9-FADF-45B3-B8F9-76B8C8108FC0}" type="datetime1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2881A39-01B0-ABD1-0396-AED972786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3A8915E-7DA4-1B59-F593-ECD20BB97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81DB7-0E70-4027-807F-6DE727BD0E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9362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BC76BBF-9C5E-56FF-AD32-C0A209335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C3438CE-A090-8FF2-944E-C8C36853B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3B062DC-FBD0-96A4-DBEA-8F6DEC2607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DA4872-55FD-416F-8A52-46E6EBCEC4A6}" type="datetime1">
              <a:rPr lang="zh-TW" altLang="en-US" smtClean="0"/>
              <a:t>2026/9/10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A2DC876-87B1-4236-F847-D6E3D61712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0604981-610A-CD73-6BBF-13EEC33072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B81DB7-0E70-4027-807F-6DE727BD0E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8725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os-navigation/navigation2.git" TargetMode="External"/><Relationship Id="rId2" Type="http://schemas.openxmlformats.org/officeDocument/2006/relationships/hyperlink" Target="https://github.com/SteveMacenski/slam_toolbox.gi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dpi.com/1424-8220/22/22/8947?utm_source=chatgpt.com" TargetMode="Externa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o269bDaKd9E?si=W4So6uUy5b4uOWVI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hyperlink" Target="https://youtu.be/P4Lga8J5PlQ?si=BljM55u_ceTNuRG2" TargetMode="External"/><Relationship Id="rId4" Type="http://schemas.openxmlformats.org/officeDocument/2006/relationships/hyperlink" Target="https://youtu.be/RtH6TG7F7RU?si=f6Ajw4J15jbQBq5P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_lqm8wwqqzs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E702AE-FCBE-88A0-8368-5C62C098F9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7876" y="1759290"/>
            <a:ext cx="9144000" cy="2387600"/>
          </a:xfrm>
        </p:spPr>
        <p:txBody>
          <a:bodyPr/>
          <a:lstStyle/>
          <a:p>
            <a:r>
              <a:rPr lang="en-US" altLang="zh-TW" dirty="0" err="1">
                <a:latin typeface="Times New Roman" panose="02020603050405020304" pitchFamily="18" charset="0"/>
              </a:rPr>
              <a:t>deergo_report</a:t>
            </a:r>
            <a:br>
              <a:rPr lang="en-US" altLang="zh-TW" dirty="0">
                <a:latin typeface="Times New Roman" panose="02020603050405020304" pitchFamily="18" charset="0"/>
              </a:rPr>
            </a:br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572D2A5-F60A-7A75-B29A-D1CA838FC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81DB7-0E70-4027-807F-6DE727BD0E2D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62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BB094C-9552-DCF1-E95C-B9BDB83BD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</a:rPr>
              <a:t>Slam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</a:rPr>
              <a:t>建圖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41630FF-A849-DACF-21CA-DE1AED564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234" y="1253331"/>
            <a:ext cx="4105867" cy="4351338"/>
          </a:xfrm>
        </p:spPr>
        <p:txBody>
          <a:bodyPr>
            <a:normAutofit/>
          </a:bodyPr>
          <a:lstStyle/>
          <a:p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建圖工具：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hlinkClick r:id="rId2"/>
              </a:rPr>
              <a:t>slam toolbox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自動導航工具：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hlinkClick r:id="rId3"/>
              </a:rPr>
              <a:t>navigation2,NAV2</a:t>
            </a:r>
            <a:endParaRPr lang="zh-TW" altLang="en-US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9551ED-B20E-6FF0-4B71-0C5BD068D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81DB7-0E70-4027-807F-6DE727BD0E2D}" type="slidenum">
              <a:rPr lang="zh-TW" altLang="en-US" smtClean="0">
                <a:latin typeface="Times New Roman" panose="02020603050405020304" pitchFamily="18" charset="0"/>
                <a:ea typeface="標楷體" panose="03000509000000000000" pitchFamily="65" charset="-120"/>
              </a:rPr>
              <a:t>2</a:t>
            </a:fld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30B03A4-275A-6FF6-9898-A251BF1A8A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3" t="18276" r="690" b="17150"/>
          <a:stretch/>
        </p:blipFill>
        <p:spPr>
          <a:xfrm>
            <a:off x="4776510" y="543116"/>
            <a:ext cx="6924657" cy="5661081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069BF191-250C-5FEF-D54F-129C97EEC8CF}"/>
              </a:ext>
            </a:extLst>
          </p:cNvPr>
          <p:cNvSpPr txBox="1"/>
          <p:nvPr/>
        </p:nvSpPr>
        <p:spPr>
          <a:xfrm>
            <a:off x="7054585" y="6314884"/>
            <a:ext cx="23685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Slam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建圖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9EE82BD-A8AC-18A8-D90D-347BCEDED433}"/>
              </a:ext>
            </a:extLst>
          </p:cNvPr>
          <p:cNvSpPr/>
          <p:nvPr/>
        </p:nvSpPr>
        <p:spPr>
          <a:xfrm>
            <a:off x="6924278" y="3865675"/>
            <a:ext cx="233268" cy="3342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011F46F-A8A7-4253-7AC5-0A0973AAB164}"/>
              </a:ext>
            </a:extLst>
          </p:cNvPr>
          <p:cNvSpPr/>
          <p:nvPr/>
        </p:nvSpPr>
        <p:spPr>
          <a:xfrm>
            <a:off x="8739394" y="2454166"/>
            <a:ext cx="382093" cy="2448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786E813-3F0E-E1B1-6088-3AA0E6A27CCB}"/>
              </a:ext>
            </a:extLst>
          </p:cNvPr>
          <p:cNvSpPr txBox="1"/>
          <p:nvPr/>
        </p:nvSpPr>
        <p:spPr>
          <a:xfrm>
            <a:off x="7088671" y="3517563"/>
            <a:ext cx="9753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實驗室門口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0C5EFB7-5EE8-D0B8-5C63-C76A02029371}"/>
              </a:ext>
            </a:extLst>
          </p:cNvPr>
          <p:cNvSpPr txBox="1"/>
          <p:nvPr/>
        </p:nvSpPr>
        <p:spPr>
          <a:xfrm>
            <a:off x="8258030" y="2813637"/>
            <a:ext cx="11014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NAV2</a:t>
            </a:r>
            <a:r>
              <a:rPr lang="zh-TW" altLang="en-US" sz="1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目標點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635188E-8B6E-F48B-1D32-0EBD80329299}"/>
              </a:ext>
            </a:extLst>
          </p:cNvPr>
          <p:cNvSpPr/>
          <p:nvPr/>
        </p:nvSpPr>
        <p:spPr>
          <a:xfrm>
            <a:off x="7576341" y="1732175"/>
            <a:ext cx="873976" cy="5506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194F96BB-5E75-11F3-6D38-D06E6D65CFFA}"/>
              </a:ext>
            </a:extLst>
          </p:cNvPr>
          <p:cNvSpPr txBox="1"/>
          <p:nvPr/>
        </p:nvSpPr>
        <p:spPr>
          <a:xfrm>
            <a:off x="8020023" y="1434443"/>
            <a:ext cx="11014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樓梯口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A951236-B883-CE35-D60D-CC4D6B53E856}"/>
              </a:ext>
            </a:extLst>
          </p:cNvPr>
          <p:cNvSpPr/>
          <p:nvPr/>
        </p:nvSpPr>
        <p:spPr>
          <a:xfrm>
            <a:off x="6672492" y="1487283"/>
            <a:ext cx="598440" cy="5506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B1EA5F23-F984-8BC7-636F-18EB0947AF4F}"/>
              </a:ext>
            </a:extLst>
          </p:cNvPr>
          <p:cNvSpPr txBox="1"/>
          <p:nvPr/>
        </p:nvSpPr>
        <p:spPr>
          <a:xfrm>
            <a:off x="6135486" y="1621992"/>
            <a:ext cx="11014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廁所</a:t>
            </a:r>
          </a:p>
        </p:txBody>
      </p:sp>
    </p:spTree>
    <p:extLst>
      <p:ext uri="{BB962C8B-B14F-4D97-AF65-F5344CB8AC3E}">
        <p14:creationId xmlns:p14="http://schemas.microsoft.com/office/powerpoint/2010/main" val="2226808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E586B3-0BE0-01C0-B489-6149DC539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</a:rPr>
              <a:t>Slam toolbox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</a:rPr>
              <a:t> 定位演算法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A969ABC-90EB-5F98-97D4-6FE88903E3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7396" y="1195003"/>
                <a:ext cx="11864604" cy="5526471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Odom penalty: </a:t>
                </a: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以</a:t>
                </a:r>
                <a:r>
                  <a:rPr lang="en-US" altLang="zh-TW" sz="1600" dirty="0" err="1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odom</a:t>
                </a: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預測位置為搜尋中心，在附近製造</a:t>
                </a:r>
                <a:r>
                  <a:rPr lang="en-US" altLang="zh-TW" sz="1600" dirty="0" err="1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i</a:t>
                </a: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組候選姿態</a:t>
                </a:r>
                <a:r>
                  <a:rPr lang="en-US" altLang="zh-TW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(</a:t>
                </a:r>
                <a:r>
                  <a:rPr lang="en-US" altLang="zh-TW" sz="1600" dirty="0" err="1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x,y</a:t>
                </a:r>
                <a:r>
                  <a:rPr lang="en-US" altLang="zh-TW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,</a:t>
                </a:r>
                <a:r>
                  <a:rPr lang="el-GR" altLang="zh-TW" sz="1100" dirty="0"/>
                  <a:t> </a:t>
                </a:r>
                <a:r>
                  <a:rPr lang="el-GR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US" altLang="zh-TW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)</a:t>
                </a: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，每一組都拿去跟</a:t>
                </a:r>
                <a:r>
                  <a:rPr lang="en-US" altLang="zh-TW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LiDAR</a:t>
                </a: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在建好</a:t>
                </a: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0" indent="0">
                  <a:buNone/>
                </a:pP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的圖上比對，得到</a:t>
                </a:r>
                <a:r>
                  <a:rPr lang="en-US" altLang="zh-TW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response</a:t>
                </a: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，再乘上</a:t>
                </a:r>
                <a:r>
                  <a:rPr lang="en-US" altLang="zh-TW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penalty</a:t>
                </a: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，</a:t>
                </a:r>
                <a:r>
                  <a:rPr lang="zh-TW" altLang="en-US" sz="1600" dirty="0">
                    <a:solidFill>
                      <a:srgbClr val="836967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16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zh-TW" altLang="en-US" sz="1600" i="1">
                            <a:latin typeface="Cambria Math" panose="02040503050406030204" pitchFamily="18" charset="0"/>
                          </a:rPr>
                          <m:t>𝑓𝑖𝑛𝑎𝑙</m:t>
                        </m:r>
                      </m:sub>
                    </m:sSub>
                  </m:oMath>
                </a14:m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分數最高的候選點則當作現在最有可能的位置，取代里程計的預測位姿</a:t>
                </a: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0" indent="0">
                  <a:buNone/>
                </a:pP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0" indent="0">
                  <a:buNone/>
                </a:pP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里程計預測位置：</a:t>
                </a: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0" indent="0">
                  <a:buNone/>
                </a:pP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0" indent="0">
                  <a:buNone/>
                </a:pP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第</a:t>
                </a:r>
                <a:r>
                  <a:rPr lang="en-US" altLang="zh-TW" sz="1600" dirty="0" err="1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i</a:t>
                </a: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個候選位姿位置：</a:t>
                </a: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0" indent="0">
                  <a:buNone/>
                </a:pP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此偏移量是</a:t>
                </a:r>
                <a:r>
                  <a:rPr lang="en-US" altLang="zh-TW" sz="1600" dirty="0" err="1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OpenKarto</a:t>
                </a:r>
                <a:r>
                  <a:rPr lang="en-US" altLang="zh-TW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(</a:t>
                </a: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圖形化</a:t>
                </a:r>
                <a:r>
                  <a:rPr lang="en-US" altLang="zh-TW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slam</a:t>
                </a: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演算法庫</a:t>
                </a:r>
                <a:r>
                  <a:rPr lang="en-US" altLang="zh-TW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)</a:t>
                </a: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在我所設定之離散式相關搜尋空間內枚舉出</a:t>
                </a:r>
                <a:r>
                  <a:rPr lang="en-US" altLang="zh-TW" sz="1600" dirty="0" err="1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i</a:t>
                </a: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個位姿，並以此計算</a:t>
                </a:r>
                <a:r>
                  <a:rPr lang="en-US" altLang="zh-TW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LiDAR response</a:t>
                </a:r>
              </a:p>
              <a:p>
                <a:pPr marL="0" indent="0">
                  <a:buNone/>
                </a:pP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0" indent="0">
                  <a:buNone/>
                </a:pPr>
                <a:r>
                  <a:rPr lang="en-US" altLang="zh-TW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LiDAR response:</a:t>
                </a:r>
              </a:p>
              <a:p>
                <a:pPr marL="0" indent="0">
                  <a:buNone/>
                </a:pP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其中，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16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16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zh-TW" alt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為地圖之投影點：</a:t>
                </a:r>
                <a:r>
                  <a:rPr lang="zh-TW" altLang="en-US" sz="1600" dirty="0">
                    <a:solidFill>
                      <a:srgbClr val="836967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1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16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zh-TW" alt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sz="1600" dirty="0">
                    <a:solidFill>
                      <a:srgbClr val="836967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 </a:t>
                </a:r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zh-TW" altLang="en-US" sz="16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</m:mr>
                      <m:mr>
                        <m:e>
                          <m:r>
                            <a:rPr lang="zh-TW" altLang="en-US" sz="16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TW" altLang="en-US" sz="1600" i="1" dirty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TW" altLang="en-US" sz="1600" i="1" dirty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zh-TW" altLang="en-US" sz="1600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zh-TW" altLang="en-US" sz="1600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zh-TW" altLang="en-US" sz="16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1600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zh-TW" altLang="en-US" sz="1600" i="1" dirty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1600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sSub>
                            <m:sSubPr>
                              <m:ctrlPr>
                                <a:rPr lang="zh-TW" altLang="en-US" sz="1600" i="1" dirty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60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sz="16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mr>
                    </m:m>
                  </m:oMath>
                </a14:m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0" indent="0">
                  <a:buNone/>
                </a:pP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0" indent="0">
                  <a:buNone/>
                </a:pP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在局部座標系當中，</a:t>
                </a:r>
                <a:r>
                  <a:rPr lang="en-US" altLang="zh-TW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LiDAR</a:t>
                </a: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量測的距離與角度，則會</a:t>
                </a: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0" indent="0">
                  <a:buNone/>
                </a:pP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經過投影換算成相對誤差，加到里程計上產生後選位姿</a:t>
                </a: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0" indent="0">
                  <a:buNone/>
                </a:pP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0" indent="0">
                  <a:buNone/>
                </a:pPr>
                <a:endParaRPr lang="zh-TW" altLang="en-US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0" indent="0">
                  <a:buNone/>
                </a:pP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0" indent="0">
                  <a:buNone/>
                </a:pP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0" indent="0">
                  <a:buNone/>
                </a:pP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0" indent="0">
                  <a:buNone/>
                </a:pP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0" indent="0">
                  <a:buNone/>
                </a:pPr>
                <a:endParaRPr lang="zh-TW" altLang="en-US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0" indent="0">
                  <a:buNone/>
                </a:pP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0" indent="0">
                  <a:buNone/>
                </a:pP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0" indent="0">
                  <a:buNone/>
                </a:pPr>
                <a:endParaRPr lang="zh-TW" altLang="en-US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A969ABC-90EB-5F98-97D4-6FE88903E3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7396" y="1195003"/>
                <a:ext cx="11864604" cy="5526471"/>
              </a:xfrm>
              <a:blipFill>
                <a:blip r:embed="rId2"/>
                <a:stretch>
                  <a:fillRect l="-308" t="-77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833E5A2-DBAB-9D1E-7848-91C07D5F1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81DB7-0E70-4027-807F-6DE727BD0E2D}" type="slidenum">
              <a:rPr lang="zh-TW" altLang="en-US" smtClean="0">
                <a:latin typeface="Times New Roman" panose="02020603050405020304" pitchFamily="18" charset="0"/>
                <a:ea typeface="標楷體" panose="03000509000000000000" pitchFamily="65" charset="-120"/>
              </a:rPr>
              <a:t>3</a:t>
            </a:fld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E755591A-AF74-FD63-E93D-293F9411A86B}"/>
                  </a:ext>
                </a:extLst>
              </p:cNvPr>
              <p:cNvSpPr txBox="1"/>
              <p:nvPr/>
            </p:nvSpPr>
            <p:spPr>
              <a:xfrm>
                <a:off x="554946" y="2201684"/>
                <a:ext cx="6217920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𝑜𝑑𝑜𝑚</m:t>
                          </m:r>
                        </m:sub>
                      </m:sSub>
                      <m:r>
                        <a:rPr lang="zh-TW" alt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𝑜𝑑𝑜𝑚</m:t>
                              </m:r>
                            </m:sup>
                          </m:s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 ,</m:t>
                          </m:r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𝑜𝑑𝑜𝑚</m:t>
                              </m:r>
                            </m:sup>
                          </m:s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TW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𝑜𝑑𝑜𝑚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</p:txBody>
          </p:sp>
        </mc:Choice>
        <mc:Fallback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E755591A-AF74-FD63-E93D-293F9411A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946" y="2201684"/>
                <a:ext cx="6217920" cy="404983"/>
              </a:xfrm>
              <a:prstGeom prst="rect">
                <a:avLst/>
              </a:prstGeom>
              <a:blipFill>
                <a:blip r:embed="rId3"/>
                <a:stretch>
                  <a:fillRect b="-298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806ECC87-6901-BEA9-8DF9-05AA4F892651}"/>
                  </a:ext>
                </a:extLst>
              </p:cNvPr>
              <p:cNvSpPr txBox="1"/>
              <p:nvPr/>
            </p:nvSpPr>
            <p:spPr>
              <a:xfrm>
                <a:off x="1412590" y="2858056"/>
                <a:ext cx="6217920" cy="4188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TW" alt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𝑜𝑑𝑜𝑚</m:t>
                              </m:r>
                            </m:sup>
                          </m:sSup>
                          <m:r>
                            <a:rPr lang="zh-TW" alt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 ,</m:t>
                          </m:r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𝑜𝑑𝑜𝑚</m:t>
                              </m:r>
                            </m:sup>
                          </m:sSup>
                          <m:r>
                            <a:rPr lang="zh-TW" alt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 ,</m:t>
                          </m:r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𝑜𝑑𝑜𝑚</m:t>
                              </m:r>
                            </m:sup>
                          </m:sSup>
                          <m:r>
                            <a:rPr lang="zh-TW" alt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TW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</p:txBody>
          </p:sp>
        </mc:Choice>
        <mc:Fallback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806ECC87-6901-BEA9-8DF9-05AA4F892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2590" y="2858056"/>
                <a:ext cx="6217920" cy="4188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2BD9FFE6-CE5A-CB16-B5E6-3DD473EA6C85}"/>
                  </a:ext>
                </a:extLst>
              </p:cNvPr>
              <p:cNvSpPr txBox="1"/>
              <p:nvPr/>
            </p:nvSpPr>
            <p:spPr>
              <a:xfrm>
                <a:off x="1948618" y="3697112"/>
                <a:ext cx="3430576" cy="6462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𝐿𝑖𝐷𝐴𝑅</m:t>
                        </m:r>
                      </m:sub>
                    </m:sSub>
                    <m:r>
                      <a:rPr lang="zh-TW" alt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grow m:val="on"/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zh-TW" altLang="en-US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  <m:d>
                              <m:dPr>
                                <m:ctrlP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TW" altLang="en-US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zh-TW" alt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num>
                      <m:den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zh-TW" altLang="en-US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zh-TW" alt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zh-TW" altLang="en-US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, 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0&lt;</a:t>
                </a:r>
                <a:r>
                  <a:rPr lang="zh-TW" altLang="en-US" dirty="0">
                    <a:solidFill>
                      <a:srgbClr val="836967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𝐿𝑖𝐷𝐴𝑅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&lt;1</a:t>
                </a:r>
                <a:endPara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2BD9FFE6-CE5A-CB16-B5E6-3DD473EA6C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8618" y="3697112"/>
                <a:ext cx="3430576" cy="6462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左大括弧 25">
            <a:extLst>
              <a:ext uri="{FF2B5EF4-FFF2-40B4-BE49-F238E27FC236}">
                <a16:creationId xmlns:a16="http://schemas.microsoft.com/office/drawing/2014/main" id="{68229FF6-2E24-91FE-18D4-B5DABDFBBBAD}"/>
              </a:ext>
            </a:extLst>
          </p:cNvPr>
          <p:cNvSpPr/>
          <p:nvPr/>
        </p:nvSpPr>
        <p:spPr>
          <a:xfrm>
            <a:off x="4582510" y="3932814"/>
            <a:ext cx="1513490" cy="1442833"/>
          </a:xfrm>
          <a:prstGeom prst="leftBrace">
            <a:avLst>
              <a:gd name="adj1" fmla="val 26555"/>
              <a:gd name="adj2" fmla="val 49009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CA944E42-5C2B-D4F0-98CC-128A8D22068B}"/>
                  </a:ext>
                </a:extLst>
              </p:cNvPr>
              <p:cNvSpPr txBox="1"/>
              <p:nvPr/>
            </p:nvSpPr>
            <p:spPr>
              <a:xfrm>
                <a:off x="6107297" y="3667057"/>
                <a:ext cx="6217920" cy="8049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TW" altLang="en-US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TW" alt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zh-TW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zh-TW" altLang="en-US" i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sSub>
                                <m:sSubPr>
                                  <m:ctrlPr>
                                    <a:rPr lang="zh-TW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zh-TW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zh-TW" altLang="en-US" i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sSub>
                                <m:sSubPr>
                                  <m:ctrlPr>
                                    <a:rPr lang="zh-TW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,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 </a:t>
                </a:r>
                <a:r>
                  <a:rPr lang="zh-TW" altLang="en-US" dirty="0">
                    <a:solidFill>
                      <a:srgbClr val="836967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1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16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zh-TW" alt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為</a:t>
                </a:r>
                <a:r>
                  <a:rPr lang="en-US" altLang="zh-TW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LiDAR</a:t>
                </a: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局部座標系中的點</a:t>
                </a: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r>
                  <a:rPr lang="zh-TW" altLang="en-US" sz="1600" dirty="0">
                    <a:solidFill>
                      <a:srgbClr val="836967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1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1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zh-TW" alt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,</a:t>
                </a:r>
                <a:r>
                  <a:rPr lang="zh-TW" altLang="en-US" sz="1600" dirty="0">
                    <a:solidFill>
                      <a:srgbClr val="836967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1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16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zh-TW" alt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為量測之距離與角度</a:t>
                </a:r>
              </a:p>
            </p:txBody>
          </p:sp>
        </mc:Choice>
        <mc:Fallback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CA944E42-5C2B-D4F0-98CC-128A8D2206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7297" y="3667057"/>
                <a:ext cx="6217920" cy="804900"/>
              </a:xfrm>
              <a:prstGeom prst="rect">
                <a:avLst/>
              </a:prstGeom>
              <a:blipFill>
                <a:blip r:embed="rId6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2FB86623-670B-3EF7-ED6D-1B44E81160A1}"/>
                  </a:ext>
                </a:extLst>
              </p:cNvPr>
              <p:cNvSpPr txBox="1"/>
              <p:nvPr/>
            </p:nvSpPr>
            <p:spPr>
              <a:xfrm>
                <a:off x="6051856" y="5106369"/>
                <a:ext cx="6217920" cy="556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zh-TW" altLang="en-US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TW" alt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zh-TW" altLang="en-US" i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zh-TW" alt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zh-TW" altLang="en-US" i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zh-TW" altLang="en-US" i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zh-TW" altLang="en-US" i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zh-TW" alt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為旋轉矩陣</a:t>
                </a:r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2FB86623-670B-3EF7-ED6D-1B44E8116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1856" y="5106369"/>
                <a:ext cx="6217920" cy="55662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6789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65CC6FFD-9B11-2671-8C24-674936A02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</a:rPr>
              <a:t>Slam toolbox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</a:rPr>
              <a:t> 定位演算法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內容版面配置區 2">
                <a:extLst>
                  <a:ext uri="{FF2B5EF4-FFF2-40B4-BE49-F238E27FC236}">
                    <a16:creationId xmlns:a16="http://schemas.microsoft.com/office/drawing/2014/main" id="{BF62F7B9-1518-7C67-F58F-F78CC9DDC4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6099" y="1325563"/>
                <a:ext cx="5745906" cy="5526471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zh-TW" altLang="en-US" sz="160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zh-TW" alt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en-US" sz="16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16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zh-TW" alt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代表該投影點在地圖上的匹配分數，計算方式如下：</a:t>
                </a: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0" indent="0">
                  <a:buNone/>
                </a:pP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0" indent="0">
                  <a:buNone/>
                </a:pP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16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160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TW" sz="1600" b="0" i="1" dirty="0" smtClean="0">
                            <a:latin typeface="Cambria Math" panose="02040503050406030204" pitchFamily="18" charset="0"/>
                          </a:rPr>
                          <m:t>𝑛𝑒𝑎𝑟𝑒𝑠𝑡</m:t>
                        </m:r>
                      </m:sub>
                    </m:sSub>
                  </m:oMath>
                </a14:m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為地圖上歷史障礙物最近點，</a:t>
                </a:r>
                <a:r>
                  <a:rPr lang="en-US" altLang="zh-TW" sz="1600" dirty="0"/>
                  <a:t> </a:t>
                </a:r>
                <a14:m>
                  <m:oMath xmlns:m="http://schemas.openxmlformats.org/officeDocument/2006/math">
                    <m:r>
                      <a:rPr lang="en-US" altLang="zh-TW" sz="1600" i="1" dirty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為其標準差：</a:t>
                </a: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0" indent="0">
                  <a:buNone/>
                </a:pP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0" indent="0">
                  <a:buNone/>
                </a:pP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0" indent="0">
                  <a:buNone/>
                </a:pP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0" indent="0">
                  <a:buNone/>
                </a:pP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16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16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zh-TW" altLang="en-US" sz="1600" i="0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</m:oMath>
                </a14:m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則表示單一點能取得的最大匹配分數，用於正規化，將</a:t>
                </a:r>
                <a:r>
                  <a:rPr lang="en-US" altLang="zh-TW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LiDAR</a:t>
                </a: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 </a:t>
                </a:r>
                <a:r>
                  <a:rPr lang="en-US" altLang="zh-TW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response</a:t>
                </a: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限制在</a:t>
                </a:r>
                <a:r>
                  <a:rPr lang="en-US" altLang="zh-TW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0-1</a:t>
                </a: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之間</a:t>
                </a: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0" indent="0">
                  <a:buNone/>
                </a:pP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0" indent="0">
                  <a:buNone/>
                </a:pP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距離與角度誤差：對某一組的候選位姿，其相對於</a:t>
                </a:r>
                <a:r>
                  <a:rPr lang="en-US" altLang="zh-TW" sz="1600" dirty="0" err="1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odom</a:t>
                </a: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預測值的平移與角度差定義為：</a:t>
                </a: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0" indent="0">
                  <a:buNone/>
                </a:pPr>
                <a:endParaRPr lang="zh-TW" altLang="en-US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0" indent="0">
                  <a:buNone/>
                </a:pPr>
                <a:endParaRPr lang="zh-TW" altLang="en-US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</p:txBody>
          </p:sp>
        </mc:Choice>
        <mc:Fallback>
          <p:sp>
            <p:nvSpPr>
              <p:cNvPr id="6" name="內容版面配置區 2">
                <a:extLst>
                  <a:ext uri="{FF2B5EF4-FFF2-40B4-BE49-F238E27FC236}">
                    <a16:creationId xmlns:a16="http://schemas.microsoft.com/office/drawing/2014/main" id="{BF62F7B9-1518-7C67-F58F-F78CC9DDC4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6099" y="1325563"/>
                <a:ext cx="5745906" cy="5526471"/>
              </a:xfrm>
              <a:blipFill>
                <a:blip r:embed="rId2"/>
                <a:stretch>
                  <a:fillRect l="-637" t="-772" r="-42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圖片 21">
            <a:extLst>
              <a:ext uri="{FF2B5EF4-FFF2-40B4-BE49-F238E27FC236}">
                <a16:creationId xmlns:a16="http://schemas.microsoft.com/office/drawing/2014/main" id="{EC8722E9-7A99-84BE-9A4C-BFF23F445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9392" y="2491538"/>
            <a:ext cx="1622530" cy="93746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B12FFC6F-24D4-46BD-8F81-BB6E15F0878B}"/>
                  </a:ext>
                </a:extLst>
              </p:cNvPr>
              <p:cNvSpPr txBox="1"/>
              <p:nvPr/>
            </p:nvSpPr>
            <p:spPr>
              <a:xfrm>
                <a:off x="1439837" y="5280567"/>
                <a:ext cx="5105149" cy="6944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TW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𝛥</m:t>
                            </m:r>
                            <m:sSup>
                              <m:sSupPr>
                                <m:ctrlPr>
                                  <a:rPr lang="zh-TW" altLang="en-US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lang="zh-TW" altLang="en-US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"/>
                                    <m:endChr m:val=""/>
                                    <m:ctrlPr>
                                      <a:rPr lang="zh-TW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"/>
                                        <m:endChr m:val=""/>
                                        <m:ctrlPr>
                                          <a:rPr lang="zh-TW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TW" altLang="en-US" i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</m:e>
                                    </m:d>
                                    <m:r>
                                      <a:rPr lang="zh-TW" alt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zh-TW" altLang="en-US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zh-TW" altLang="en-US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zh-TW" altLang="en-US" i="1">
                                            <a:latin typeface="Cambria Math" panose="02040503050406030204" pitchFamily="18" charset="0"/>
                                          </a:rPr>
                                          <m:t>𝑜𝑑𝑜𝑚</m:t>
                                        </m:r>
                                      </m:sub>
                                    </m:sSub>
                                    <m:r>
                                      <a:rPr lang="zh-TW" altLang="en-US" i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zh-TW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TW" alt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zh-TW" altLang="en-US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zh-TW" altLang="en-US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TW" alt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zh-TW" altLang="en-US" i="1">
                                            <a:latin typeface="Cambria Math" panose="02040503050406030204" pitchFamily="18" charset="0"/>
                                          </a:rPr>
                                          <m:t>𝑜𝑑𝑜𝑚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mr>
                        <m:m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𝛥𝜃</m:t>
                            </m:r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TW" altLang="en-US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  <m:t>𝑜𝑑𝑜𝑚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</p:txBody>
          </p:sp>
        </mc:Choice>
        <mc:Fallback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B12FFC6F-24D4-46BD-8F81-BB6E15F087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9837" y="5280567"/>
                <a:ext cx="5105149" cy="6944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 descr="DPCR-SLAM: A Dual-Point-Cloud-Registration SLAM Based on Line Features for Mapping an Indoor Mobile Robot">
            <a:extLst>
              <a:ext uri="{FF2B5EF4-FFF2-40B4-BE49-F238E27FC236}">
                <a16:creationId xmlns:a16="http://schemas.microsoft.com/office/drawing/2014/main" id="{569A46F7-62C2-1972-1122-599A34666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4107" y="2225130"/>
            <a:ext cx="5745906" cy="3402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文字方塊 29">
            <a:extLst>
              <a:ext uri="{FF2B5EF4-FFF2-40B4-BE49-F238E27FC236}">
                <a16:creationId xmlns:a16="http://schemas.microsoft.com/office/drawing/2014/main" id="{95415EEE-E71A-EA6A-2C97-57A3183145AB}"/>
              </a:ext>
            </a:extLst>
          </p:cNvPr>
          <p:cNvSpPr txBox="1"/>
          <p:nvPr/>
        </p:nvSpPr>
        <p:spPr>
          <a:xfrm>
            <a:off x="7619896" y="5820081"/>
            <a:ext cx="3132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hlinkClick r:id="rId6"/>
              </a:rPr>
              <a:t>網狀撒點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示意圖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(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紅色點為候選點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)</a:t>
            </a:r>
            <a:endParaRPr lang="zh-TW" altLang="en-US" sz="1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7F7DB9F6-9392-2238-79A8-ACBE1590AB20}"/>
              </a:ext>
            </a:extLst>
          </p:cNvPr>
          <p:cNvSpPr/>
          <p:nvPr/>
        </p:nvSpPr>
        <p:spPr>
          <a:xfrm>
            <a:off x="7162236" y="3686740"/>
            <a:ext cx="128971" cy="11645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6FE59833-3FFA-711A-DDC4-18FA4843303F}"/>
              </a:ext>
            </a:extLst>
          </p:cNvPr>
          <p:cNvSpPr/>
          <p:nvPr/>
        </p:nvSpPr>
        <p:spPr>
          <a:xfrm>
            <a:off x="7595903" y="3640200"/>
            <a:ext cx="128971" cy="11645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44B8841B-FDA5-3B34-2864-167074DEAAC6}"/>
              </a:ext>
            </a:extLst>
          </p:cNvPr>
          <p:cNvSpPr/>
          <p:nvPr/>
        </p:nvSpPr>
        <p:spPr>
          <a:xfrm>
            <a:off x="7226721" y="4258114"/>
            <a:ext cx="128971" cy="11645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9BBA301D-8ECC-CA87-7CE9-333118EDCDE1}"/>
              </a:ext>
            </a:extLst>
          </p:cNvPr>
          <p:cNvSpPr/>
          <p:nvPr/>
        </p:nvSpPr>
        <p:spPr>
          <a:xfrm>
            <a:off x="8272238" y="4334741"/>
            <a:ext cx="128971" cy="11645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C7514F45-E1EC-4953-D980-B79C6CEA122E}"/>
              </a:ext>
            </a:extLst>
          </p:cNvPr>
          <p:cNvSpPr/>
          <p:nvPr/>
        </p:nvSpPr>
        <p:spPr>
          <a:xfrm>
            <a:off x="7555410" y="4896384"/>
            <a:ext cx="128971" cy="11645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3A7F83DA-3828-6128-596F-2E3EA0ECA2BE}"/>
              </a:ext>
            </a:extLst>
          </p:cNvPr>
          <p:cNvSpPr/>
          <p:nvPr/>
        </p:nvSpPr>
        <p:spPr>
          <a:xfrm>
            <a:off x="8143267" y="3697508"/>
            <a:ext cx="128971" cy="11645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5DB73C33-D5B4-2B76-9F2B-D3148F643EFD}"/>
              </a:ext>
            </a:extLst>
          </p:cNvPr>
          <p:cNvSpPr/>
          <p:nvPr/>
        </p:nvSpPr>
        <p:spPr>
          <a:xfrm>
            <a:off x="8436107" y="3420577"/>
            <a:ext cx="128971" cy="11645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03B85E7F-FFFD-EEDD-71FC-642A54897A07}"/>
              </a:ext>
            </a:extLst>
          </p:cNvPr>
          <p:cNvSpPr/>
          <p:nvPr/>
        </p:nvSpPr>
        <p:spPr>
          <a:xfrm>
            <a:off x="7009494" y="3420576"/>
            <a:ext cx="128971" cy="11645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1B338624-5E5D-CED0-7C60-F5FF3C1056A6}"/>
              </a:ext>
            </a:extLst>
          </p:cNvPr>
          <p:cNvSpPr/>
          <p:nvPr/>
        </p:nvSpPr>
        <p:spPr>
          <a:xfrm>
            <a:off x="7073979" y="4708039"/>
            <a:ext cx="128971" cy="11645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橢圓 33">
            <a:extLst>
              <a:ext uri="{FF2B5EF4-FFF2-40B4-BE49-F238E27FC236}">
                <a16:creationId xmlns:a16="http://schemas.microsoft.com/office/drawing/2014/main" id="{208C829F-BE48-A005-00BC-9724F29305B7}"/>
              </a:ext>
            </a:extLst>
          </p:cNvPr>
          <p:cNvSpPr/>
          <p:nvPr/>
        </p:nvSpPr>
        <p:spPr>
          <a:xfrm>
            <a:off x="7209902" y="4959213"/>
            <a:ext cx="128971" cy="11645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>
            <a:extLst>
              <a:ext uri="{FF2B5EF4-FFF2-40B4-BE49-F238E27FC236}">
                <a16:creationId xmlns:a16="http://schemas.microsoft.com/office/drawing/2014/main" id="{E5EBAEE6-6082-335F-9738-321B2E55C9CA}"/>
              </a:ext>
            </a:extLst>
          </p:cNvPr>
          <p:cNvSpPr/>
          <p:nvPr/>
        </p:nvSpPr>
        <p:spPr>
          <a:xfrm>
            <a:off x="7963516" y="4687414"/>
            <a:ext cx="128971" cy="11645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1235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BAD91D18-45CB-737B-4480-3FB0D8363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040" y="2420692"/>
            <a:ext cx="6185614" cy="309625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49DA4B34-5A6D-1532-ED27-DD659DA896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9366" y="1254730"/>
                <a:ext cx="7146603" cy="552647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距離與角度懲罰寫為：</a:t>
                </a: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0" indent="0">
                  <a:buNone/>
                </a:pP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0" indent="0">
                  <a:buNone/>
                </a:pP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0" indent="0">
                  <a:buNone/>
                </a:pP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0" indent="0">
                  <a:buNone/>
                </a:pP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0" indent="0">
                  <a:buNone/>
                </a:pP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其中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TW" altLang="en-US" sz="16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zh-TW" altLang="en-US" sz="1600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  <m:sup>
                        <m:r>
                          <a:rPr lang="zh-TW" altLang="en-US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與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TW" altLang="en-US" sz="1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zh-TW" altLang="en-US" sz="16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lang="zh-TW" altLang="en-US" sz="16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為懲罰係數，越大可以使候選位姿更依賴</a:t>
                </a:r>
                <a:r>
                  <a:rPr lang="en-US" altLang="zh-TW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LiDAR</a:t>
                </a: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，</a:t>
                </a: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0" indent="0">
                  <a:buNone/>
                </a:pP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越小則更容易拉回里程計附近，控制對</a:t>
                </a:r>
                <a:r>
                  <a:rPr lang="en-US" altLang="zh-TW" sz="1600" dirty="0" err="1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odom</a:t>
                </a: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的信任程度</a:t>
                </a: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0" indent="0">
                  <a:buNone/>
                </a:pP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0" indent="0">
                  <a:buNone/>
                </a:pP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0" indent="0">
                  <a:buNone/>
                </a:pP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最終分數則可以表示為：</a:t>
                </a: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0" indent="0">
                  <a:buNone/>
                </a:pP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0" indent="0">
                  <a:buNone/>
                </a:pPr>
                <a:endParaRPr lang="en-US" altLang="zh-TW" sz="1600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0" indent="0">
                  <a:buNone/>
                </a:pPr>
                <a:r>
                  <a:rPr lang="zh-TW" altLang="en-US" sz="16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分數最高的候選點則作為目前機器人之定位結果</a:t>
                </a:r>
              </a:p>
            </p:txBody>
          </p:sp>
        </mc:Choice>
        <mc:Fallback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49DA4B34-5A6D-1532-ED27-DD659DA896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9366" y="1254730"/>
                <a:ext cx="7146603" cy="5526471"/>
              </a:xfrm>
              <a:blipFill>
                <a:blip r:embed="rId3"/>
                <a:stretch>
                  <a:fillRect l="-427" t="-7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字方塊 11">
            <a:extLst>
              <a:ext uri="{FF2B5EF4-FFF2-40B4-BE49-F238E27FC236}">
                <a16:creationId xmlns:a16="http://schemas.microsoft.com/office/drawing/2014/main" id="{56892DDB-10E1-7267-2D9C-88464264A290}"/>
              </a:ext>
            </a:extLst>
          </p:cNvPr>
          <p:cNvSpPr txBox="1"/>
          <p:nvPr/>
        </p:nvSpPr>
        <p:spPr>
          <a:xfrm>
            <a:off x="7622516" y="5684938"/>
            <a:ext cx="2496396" cy="309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ROS2 work flow</a:t>
            </a:r>
            <a:endParaRPr lang="zh-TW" altLang="en-US" sz="1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07A13CD7-C344-F839-1113-B055F174A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</a:rPr>
              <a:t>Slam toolbox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</a:rPr>
              <a:t> 定位演算法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27892FAF-F700-AAB0-AE20-ACAECDEC0059}"/>
                  </a:ext>
                </a:extLst>
              </p:cNvPr>
              <p:cNvSpPr txBox="1"/>
              <p:nvPr/>
            </p:nvSpPr>
            <p:spPr>
              <a:xfrm>
                <a:off x="1890312" y="4830339"/>
                <a:ext cx="2513774" cy="3915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𝑓𝑖𝑛𝑎𝑙</m:t>
                        </m:r>
                      </m:sub>
                    </m:sSub>
                    <m:r>
                      <a:rPr lang="zh-TW" altLang="en-US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TW" alt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𝐿𝑖𝐷𝐴𝑅</m:t>
                        </m:r>
                      </m:sub>
                    </m:sSub>
                    <m:sSub>
                      <m:sSubPr>
                        <m:ctrlPr>
                          <a:rPr lang="zh-TW" alt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sSub>
                      <m:sSubPr>
                        <m:ctrlPr>
                          <a:rPr lang="zh-TW" alt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zh-TW" alt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，</a:t>
                </a:r>
              </a:p>
            </p:txBody>
          </p:sp>
        </mc:Choice>
        <mc:Fallback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27892FAF-F700-AAB0-AE20-ACAECDEC00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0312" y="4830339"/>
                <a:ext cx="2513774" cy="391582"/>
              </a:xfrm>
              <a:prstGeom prst="rect">
                <a:avLst/>
              </a:prstGeom>
              <a:blipFill>
                <a:blip r:embed="rId4"/>
                <a:stretch>
                  <a:fillRect t="-6154" r="-728" b="-184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751389D6-9BEE-2AF7-A22D-3B1C7FEC44EC}"/>
                  </a:ext>
                </a:extLst>
              </p:cNvPr>
              <p:cNvSpPr txBox="1"/>
              <p:nvPr/>
            </p:nvSpPr>
            <p:spPr>
              <a:xfrm>
                <a:off x="-1244804" y="1988481"/>
                <a:ext cx="6217920" cy="7191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zh-TW" alt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zh-TW" altLang="en-US" i="0">
                          <a:latin typeface="Cambria Math" panose="02040503050406030204" pitchFamily="18" charset="0"/>
                        </a:rPr>
                        <m:t>max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i="0">
                              <a:latin typeface="Cambria Math" panose="02040503050406030204" pitchFamily="18" charset="0"/>
                            </a:rPr>
                            <m:t>1−0.2</m:t>
                          </m:r>
                          <m:f>
                            <m:fPr>
                              <m:ctrlPr>
                                <a:rPr lang="zh-TW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𝛥</m:t>
                              </m:r>
                              <m:sSup>
                                <m:sSupPr>
                                  <m:ctrlPr>
                                    <a:rPr lang="zh-TW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lang="zh-TW" alt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zh-TW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  <m:sup>
                                  <m:r>
                                    <a:rPr lang="zh-TW" alt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</p:txBody>
          </p:sp>
        </mc:Choice>
        <mc:Fallback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751389D6-9BEE-2AF7-A22D-3B1C7FEC4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44804" y="1988481"/>
                <a:ext cx="6217920" cy="7191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E8219E19-9265-3D4A-C969-938C60663B70}"/>
                  </a:ext>
                </a:extLst>
              </p:cNvPr>
              <p:cNvSpPr txBox="1"/>
              <p:nvPr/>
            </p:nvSpPr>
            <p:spPr>
              <a:xfrm>
                <a:off x="1520506" y="1966866"/>
                <a:ext cx="6217920" cy="7242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zh-TW" alt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zh-TW" altLang="en-US" i="0">
                          <a:latin typeface="Cambria Math" panose="02040503050406030204" pitchFamily="18" charset="0"/>
                        </a:rPr>
                        <m:t>max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i="0">
                              <a:latin typeface="Cambria Math" panose="02040503050406030204" pitchFamily="18" charset="0"/>
                            </a:rPr>
                            <m:t>1−0.2</m:t>
                          </m:r>
                          <m:f>
                            <m:fPr>
                              <m:ctrlPr>
                                <a:rPr lang="zh-TW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𝛥</m:t>
                              </m:r>
                              <m:sSup>
                                <m:sSupPr>
                                  <m:ctrlPr>
                                    <a:rPr lang="zh-TW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zh-TW" alt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zh-TW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  <m:sup>
                                  <m:r>
                                    <a:rPr lang="zh-TW" alt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</p:txBody>
          </p:sp>
        </mc:Choice>
        <mc:Fallback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E8219E19-9265-3D4A-C969-938C60663B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0506" y="1966866"/>
                <a:ext cx="6217920" cy="72423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2122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C2EE15-1449-5B7C-4BF7-A107584D9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</a:rPr>
              <a:t>參數配置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</a:rPr>
              <a:t>(1)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</a:rPr>
              <a:t>以及實驗案例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C4EC2DD-716C-D561-75F0-E9DC078C1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81DB7-0E70-4027-807F-6DE727BD0E2D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D133DE-21AC-4BE0-8818-B1F11B888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098" y="1195004"/>
            <a:ext cx="11559803" cy="5526471"/>
          </a:xfrm>
        </p:spPr>
        <p:txBody>
          <a:bodyPr>
            <a:normAutofit/>
          </a:bodyPr>
          <a:lstStyle/>
          <a:p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離散式網格搜尋空間：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Odom/LiDAR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權重參數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zh-TW" altLang="en-US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09DCF85F-B785-524A-94BF-018F5A480E8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64753052"/>
                  </p:ext>
                </p:extLst>
              </p:nvPr>
            </p:nvGraphicFramePr>
            <p:xfrm>
              <a:off x="768952" y="1743010"/>
              <a:ext cx="4249880" cy="203587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38909">
                      <a:extLst>
                        <a:ext uri="{9D8B030D-6E8A-4147-A177-3AD203B41FA5}">
                          <a16:colId xmlns:a16="http://schemas.microsoft.com/office/drawing/2014/main" val="1476704698"/>
                        </a:ext>
                      </a:extLst>
                    </a:gridCol>
                    <a:gridCol w="1310971">
                      <a:extLst>
                        <a:ext uri="{9D8B030D-6E8A-4147-A177-3AD203B41FA5}">
                          <a16:colId xmlns:a16="http://schemas.microsoft.com/office/drawing/2014/main" val="721552494"/>
                        </a:ext>
                      </a:extLst>
                    </a:gridCol>
                  </a:tblGrid>
                  <a:tr h="3111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1600" baseline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參數與功能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1600" baseline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設定值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07057933"/>
                      </a:ext>
                    </a:extLst>
                  </a:tr>
                  <a:tr h="3184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aseline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XY</a:t>
                          </a:r>
                          <a:r>
                            <a:rPr lang="zh-TW" altLang="en-US" sz="1600" baseline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離散搜尋區域距離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aseline="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0.6m(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600" baseline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±</m:t>
                              </m:r>
                              <m:r>
                                <a:rPr lang="en-US" altLang="zh-TW" sz="1600" b="0" i="0" baseline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0.3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600" b="0" i="0" baseline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oMath>
                          </a14:m>
                          <a:r>
                            <a:rPr lang="en-US" altLang="zh-TW" sz="1600" baseline="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)</a:t>
                          </a:r>
                          <a:endParaRPr lang="zh-TW" altLang="en-US" sz="1600" baseline="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33707627"/>
                      </a:ext>
                    </a:extLst>
                  </a:tr>
                  <a:tr h="3111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1600" baseline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空間距離解析度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aseline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0.02m</a:t>
                          </a:r>
                          <a:endParaRPr lang="zh-TW" altLang="en-US" sz="16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5528178"/>
                      </a:ext>
                    </a:extLst>
                  </a:tr>
                  <a:tr h="31118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zh-TW" altLang="en-US" sz="1800" i="1" kern="1200" smtClean="0">
                                  <a:solidFill>
                                    <a:schemeClr val="dk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𝜃</m:t>
                              </m:r>
                            </m:oMath>
                          </a14:m>
                          <a:r>
                            <a:rPr lang="zh-TW" altLang="en-US" sz="1600" baseline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離散搜尋區域角度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aseline="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60</a:t>
                          </a:r>
                          <a:r>
                            <a:rPr lang="zh-TW" altLang="en-US" sz="1600" baseline="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度</a:t>
                          </a:r>
                          <a:r>
                            <a:rPr lang="en-US" altLang="zh-TW" sz="1600" baseline="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600" baseline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±</m:t>
                              </m:r>
                              <m:r>
                                <a:rPr lang="en-US" altLang="zh-TW" sz="1600" b="0" i="0" baseline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oMath>
                          </a14:m>
                          <a:r>
                            <a:rPr lang="zh-TW" altLang="en-US" sz="1600" baseline="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度</a:t>
                          </a:r>
                          <a:r>
                            <a:rPr lang="en-US" altLang="zh-TW" sz="1600" baseline="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)</a:t>
                          </a:r>
                          <a:endParaRPr lang="zh-TW" altLang="en-US" sz="1600" baseline="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4669510"/>
                      </a:ext>
                    </a:extLst>
                  </a:tr>
                  <a:tr h="3111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1600" baseline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空間角度解析度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aseline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2</a:t>
                          </a:r>
                          <a:r>
                            <a:rPr lang="zh-TW" altLang="en-US" sz="1600" baseline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82272637"/>
                      </a:ext>
                    </a:extLst>
                  </a:tr>
                  <a:tr h="3111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1600" baseline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高斯模糊標準差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aseline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0.03</a:t>
                          </a:r>
                          <a:endParaRPr lang="zh-TW" altLang="en-US" sz="16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8774511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09DCF85F-B785-524A-94BF-018F5A480E8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64753052"/>
                  </p:ext>
                </p:extLst>
              </p:nvPr>
            </p:nvGraphicFramePr>
            <p:xfrm>
              <a:off x="768952" y="1743010"/>
              <a:ext cx="4249880" cy="203587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38909">
                      <a:extLst>
                        <a:ext uri="{9D8B030D-6E8A-4147-A177-3AD203B41FA5}">
                          <a16:colId xmlns:a16="http://schemas.microsoft.com/office/drawing/2014/main" val="1476704698"/>
                        </a:ext>
                      </a:extLst>
                    </a:gridCol>
                    <a:gridCol w="1310971">
                      <a:extLst>
                        <a:ext uri="{9D8B030D-6E8A-4147-A177-3AD203B41FA5}">
                          <a16:colId xmlns:a16="http://schemas.microsoft.com/office/drawing/2014/main" val="721552494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1600" baseline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參數與功能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1600" baseline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設定值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07057933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aseline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XY</a:t>
                          </a:r>
                          <a:r>
                            <a:rPr lang="zh-TW" altLang="en-US" sz="1600" baseline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離散搜尋區域距離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2"/>
                          <a:stretch>
                            <a:fillRect l="-225116" t="-103636" r="-1860" b="-43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3707627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1600" baseline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空間距離解析度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aseline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0.02m</a:t>
                          </a:r>
                          <a:endParaRPr lang="zh-TW" altLang="en-US" sz="16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5528178"/>
                      </a:ext>
                    </a:extLst>
                  </a:tr>
                  <a:tr h="35947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2"/>
                          <a:stretch>
                            <a:fillRect l="-207" t="-284746" r="-45342" b="-208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2"/>
                          <a:stretch>
                            <a:fillRect l="-225116" t="-284746" r="-1860" b="-208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4669510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1600" baseline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空間角度解析度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aseline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2</a:t>
                          </a:r>
                          <a:r>
                            <a:rPr lang="zh-TW" altLang="en-US" sz="1600" baseline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82272637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1600" baseline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高斯模糊標準差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aseline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0.03</a:t>
                          </a:r>
                          <a:endParaRPr lang="zh-TW" altLang="en-US" sz="16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87745116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D465668-20F1-E579-96FC-EA43C9987C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601276"/>
              </p:ext>
            </p:extLst>
          </p:nvPr>
        </p:nvGraphicFramePr>
        <p:xfrm>
          <a:off x="1028416" y="4645335"/>
          <a:ext cx="3489129" cy="1711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160">
                  <a:extLst>
                    <a:ext uri="{9D8B030D-6E8A-4147-A177-3AD203B41FA5}">
                      <a16:colId xmlns:a16="http://schemas.microsoft.com/office/drawing/2014/main" val="386373058"/>
                    </a:ext>
                  </a:extLst>
                </a:gridCol>
                <a:gridCol w="1086969">
                  <a:extLst>
                    <a:ext uri="{9D8B030D-6E8A-4147-A177-3AD203B41FA5}">
                      <a16:colId xmlns:a16="http://schemas.microsoft.com/office/drawing/2014/main" val="4268884659"/>
                    </a:ext>
                  </a:extLst>
                </a:gridCol>
              </a:tblGrid>
              <a:tr h="3422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參數與功能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設定值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105158"/>
                  </a:ext>
                </a:extLst>
              </a:tr>
              <a:tr h="3422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距離偏離懲罰係數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5.0</a:t>
                      </a:r>
                      <a:endParaRPr lang="zh-TW" altLang="en-US" sz="16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9056585"/>
                  </a:ext>
                </a:extLst>
              </a:tr>
              <a:tr h="3422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角度偏離懲罰係數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6.0</a:t>
                      </a:r>
                      <a:endParaRPr lang="zh-TW" altLang="en-US" sz="16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8115554"/>
                  </a:ext>
                </a:extLst>
              </a:tr>
              <a:tr h="3422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距離偏離懲罰最大值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0.99</a:t>
                      </a:r>
                      <a:endParaRPr lang="zh-TW" altLang="en-US" sz="16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7075983"/>
                  </a:ext>
                </a:extLst>
              </a:tr>
              <a:tr h="3422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角度偏離懲罰最大值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0.99</a:t>
                      </a:r>
                      <a:endParaRPr lang="zh-TW" altLang="en-US" sz="16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4488680"/>
                  </a:ext>
                </a:extLst>
              </a:tr>
            </a:tbl>
          </a:graphicData>
        </a:graphic>
      </p:graphicFrame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7296B0B9-1C40-C255-EF2D-048EADFD8F96}"/>
              </a:ext>
            </a:extLst>
          </p:cNvPr>
          <p:cNvSpPr txBox="1">
            <a:spLocks/>
          </p:cNvSpPr>
          <p:nvPr/>
        </p:nvSpPr>
        <p:spPr>
          <a:xfrm>
            <a:off x="5553925" y="2007446"/>
            <a:ext cx="6321976" cy="45194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成功率：</a:t>
            </a:r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3/7</a:t>
            </a:r>
            <a:r>
              <a:rPr lang="zh-TW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endParaRPr lang="en-US" altLang="zh-TW" sz="16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最大速度：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0.4m/s</a:t>
            </a:r>
          </a:p>
          <a:p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最大角速度：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0.5rad/s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里程計誤差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(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發生次數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3)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hlinkClick r:id="rId3"/>
              </a:rPr>
              <a:t>https://youtu.be/o269bDaKd9E?si=W4So6uUy5b4uOWVI – 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顛坡突發中斷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(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發生次數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1)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hlinkClick r:id="rId4"/>
              </a:rPr>
              <a:t>https://youtu.be/RtH6TG7F7RU?si=f6Ajw4J15jbQBq5P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成功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demo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hlinkClick r:id="rId5"/>
              </a:rPr>
              <a:t>https://youtu.be/P4Lga8J5PlQ?si=BljM55u_ceTNuRG2</a:t>
            </a:r>
            <a:endParaRPr lang="zh-TW" altLang="en-US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4D408613-9C33-E805-7F73-D0AE5AF2824F}"/>
              </a:ext>
            </a:extLst>
          </p:cNvPr>
          <p:cNvGrpSpPr/>
          <p:nvPr/>
        </p:nvGrpSpPr>
        <p:grpSpPr>
          <a:xfrm>
            <a:off x="7686300" y="102469"/>
            <a:ext cx="4349623" cy="3555926"/>
            <a:chOff x="5994347" y="417353"/>
            <a:chExt cx="4349623" cy="3555926"/>
          </a:xfrm>
        </p:grpSpPr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B139E575-C3C4-918A-1DB6-E54ED7DB531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93" t="18276" r="690" b="17150"/>
            <a:stretch/>
          </p:blipFill>
          <p:spPr>
            <a:xfrm>
              <a:off x="5994347" y="417353"/>
              <a:ext cx="4349623" cy="3555926"/>
            </a:xfrm>
            <a:prstGeom prst="rect">
              <a:avLst/>
            </a:prstGeom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7838076-1085-13DD-8E04-7DA972B6CCEA}"/>
                </a:ext>
              </a:extLst>
            </p:cNvPr>
            <p:cNvSpPr/>
            <p:nvPr/>
          </p:nvSpPr>
          <p:spPr>
            <a:xfrm>
              <a:off x="7163852" y="1064198"/>
              <a:ext cx="498190" cy="26136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0AD0F38-BFB0-D58A-55A9-FCC0CC7ECBE3}"/>
                </a:ext>
              </a:extLst>
            </p:cNvPr>
            <p:cNvSpPr/>
            <p:nvPr/>
          </p:nvSpPr>
          <p:spPr>
            <a:xfrm>
              <a:off x="7163852" y="1587902"/>
              <a:ext cx="384678" cy="310027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F6F0C434-3138-8BE4-6EBB-DA675DB74E9F}"/>
                </a:ext>
              </a:extLst>
            </p:cNvPr>
            <p:cNvSpPr txBox="1"/>
            <p:nvPr/>
          </p:nvSpPr>
          <p:spPr>
            <a:xfrm>
              <a:off x="6102306" y="952796"/>
              <a:ext cx="23685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dirty="0">
                  <a:solidFill>
                    <a:srgbClr val="FF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最終停留位置</a:t>
              </a:r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E4C13236-DCCB-257A-7620-B71EE039C313}"/>
                </a:ext>
              </a:extLst>
            </p:cNvPr>
            <p:cNvSpPr txBox="1"/>
            <p:nvPr/>
          </p:nvSpPr>
          <p:spPr>
            <a:xfrm>
              <a:off x="7412947" y="1897929"/>
              <a:ext cx="23685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>
                  <a:solidFill>
                    <a:srgbClr val="002060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Slam</a:t>
              </a:r>
              <a:r>
                <a:rPr lang="zh-TW" altLang="en-US" sz="1200" dirty="0">
                  <a:solidFill>
                    <a:srgbClr val="002060"/>
                  </a:solidFill>
                  <a:latin typeface="Times New Roman" panose="02020603050405020304" pitchFamily="18" charset="0"/>
                  <a:ea typeface="標楷體" panose="03000509000000000000" pitchFamily="65" charset="-120"/>
                </a:rPr>
                <a:t>顯示位置</a:t>
              </a:r>
            </a:p>
          </p:txBody>
        </p:sp>
      </p:grp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022B3CAF-0100-E944-BB00-0501BB92DA49}"/>
              </a:ext>
            </a:extLst>
          </p:cNvPr>
          <p:cNvSpPr txBox="1"/>
          <p:nvPr/>
        </p:nvSpPr>
        <p:spPr>
          <a:xfrm>
            <a:off x="9640978" y="3688831"/>
            <a:ext cx="1268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</a:rPr>
              <a:t>里程計誤差</a:t>
            </a:r>
          </a:p>
        </p:txBody>
      </p:sp>
    </p:spTree>
    <p:extLst>
      <p:ext uri="{BB962C8B-B14F-4D97-AF65-F5344CB8AC3E}">
        <p14:creationId xmlns:p14="http://schemas.microsoft.com/office/powerpoint/2010/main" val="3576153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C2EE15-1449-5B7C-4BF7-A107584D9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</a:rPr>
              <a:t>參數配置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</a:rPr>
              <a:t>(2)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</a:rPr>
              <a:t>以及實驗案例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C4EC2DD-716C-D561-75F0-E9DC078C1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81DB7-0E70-4027-807F-6DE727BD0E2D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D133DE-21AC-4BE0-8818-B1F11B888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098" y="1195004"/>
            <a:ext cx="11559803" cy="5526471"/>
          </a:xfrm>
        </p:spPr>
        <p:txBody>
          <a:bodyPr>
            <a:normAutofit/>
          </a:bodyPr>
          <a:lstStyle/>
          <a:p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離散式網格搜尋空間：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Odom/LiDAR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權重參數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zh-TW" altLang="en-US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09DCF85F-B785-524A-94BF-018F5A480E8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0050538"/>
                  </p:ext>
                </p:extLst>
              </p:nvPr>
            </p:nvGraphicFramePr>
            <p:xfrm>
              <a:off x="768952" y="1743010"/>
              <a:ext cx="4349622" cy="203587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07883">
                      <a:extLst>
                        <a:ext uri="{9D8B030D-6E8A-4147-A177-3AD203B41FA5}">
                          <a16:colId xmlns:a16="http://schemas.microsoft.com/office/drawing/2014/main" val="1476704698"/>
                        </a:ext>
                      </a:extLst>
                    </a:gridCol>
                    <a:gridCol w="1341739">
                      <a:extLst>
                        <a:ext uri="{9D8B030D-6E8A-4147-A177-3AD203B41FA5}">
                          <a16:colId xmlns:a16="http://schemas.microsoft.com/office/drawing/2014/main" val="721552494"/>
                        </a:ext>
                      </a:extLst>
                    </a:gridCol>
                  </a:tblGrid>
                  <a:tr h="3111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1600" baseline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參數與功能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1600" baseline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設定值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07057933"/>
                      </a:ext>
                    </a:extLst>
                  </a:tr>
                  <a:tr h="3184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aseline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XY</a:t>
                          </a:r>
                          <a:r>
                            <a:rPr lang="zh-TW" altLang="en-US" sz="1600" baseline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離散搜尋區域距離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aseline="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3m(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600" baseline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±</m:t>
                              </m:r>
                              <m:r>
                                <a:rPr lang="en-US" altLang="zh-TW" sz="1600" b="0" i="0" baseline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1.5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600" b="0" i="0" baseline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oMath>
                          </a14:m>
                          <a:r>
                            <a:rPr lang="en-US" altLang="zh-TW" sz="1600" baseline="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)</a:t>
                          </a:r>
                          <a:endParaRPr lang="zh-TW" altLang="en-US" sz="1600" baseline="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33707627"/>
                      </a:ext>
                    </a:extLst>
                  </a:tr>
                  <a:tr h="3111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1600" baseline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空間距離解析度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aseline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0.1m</a:t>
                          </a:r>
                          <a:endParaRPr lang="zh-TW" altLang="en-US" sz="16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5528178"/>
                      </a:ext>
                    </a:extLst>
                  </a:tr>
                  <a:tr h="31118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zh-TW" altLang="en-US" sz="1800" i="1" kern="1200" smtClean="0">
                                  <a:solidFill>
                                    <a:schemeClr val="dk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𝜃</m:t>
                              </m:r>
                            </m:oMath>
                          </a14:m>
                          <a:r>
                            <a:rPr lang="zh-TW" altLang="en-US" sz="1600" baseline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離散搜尋區域角度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aseline="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180</a:t>
                          </a:r>
                          <a:r>
                            <a:rPr lang="zh-TW" altLang="en-US" sz="1600" baseline="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度</a:t>
                          </a:r>
                          <a:r>
                            <a:rPr lang="en-US" altLang="zh-TW" sz="1600" baseline="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600" baseline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±</m:t>
                              </m:r>
                              <m:r>
                                <a:rPr lang="en-US" altLang="zh-TW" sz="1600" b="0" i="0" baseline="0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90</m:t>
                              </m:r>
                            </m:oMath>
                          </a14:m>
                          <a:r>
                            <a:rPr lang="zh-TW" altLang="en-US" sz="1600" baseline="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度</a:t>
                          </a:r>
                          <a:r>
                            <a:rPr lang="en-US" altLang="zh-TW" sz="1600" baseline="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)</a:t>
                          </a:r>
                          <a:endParaRPr lang="zh-TW" altLang="en-US" sz="1600" baseline="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4669510"/>
                      </a:ext>
                    </a:extLst>
                  </a:tr>
                  <a:tr h="3111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1600" baseline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空間角度解析度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aseline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2</a:t>
                          </a:r>
                          <a:r>
                            <a:rPr lang="zh-TW" altLang="en-US" sz="1600" baseline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82272637"/>
                      </a:ext>
                    </a:extLst>
                  </a:tr>
                  <a:tr h="3111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1600" baseline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高斯模糊標準差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aseline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0.03</a:t>
                          </a:r>
                          <a:endParaRPr lang="zh-TW" altLang="en-US" sz="16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8774511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09DCF85F-B785-524A-94BF-018F5A480E8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0050538"/>
                  </p:ext>
                </p:extLst>
              </p:nvPr>
            </p:nvGraphicFramePr>
            <p:xfrm>
              <a:off x="768952" y="1743010"/>
              <a:ext cx="4349622" cy="203587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07883">
                      <a:extLst>
                        <a:ext uri="{9D8B030D-6E8A-4147-A177-3AD203B41FA5}">
                          <a16:colId xmlns:a16="http://schemas.microsoft.com/office/drawing/2014/main" val="1476704698"/>
                        </a:ext>
                      </a:extLst>
                    </a:gridCol>
                    <a:gridCol w="1341739">
                      <a:extLst>
                        <a:ext uri="{9D8B030D-6E8A-4147-A177-3AD203B41FA5}">
                          <a16:colId xmlns:a16="http://schemas.microsoft.com/office/drawing/2014/main" val="721552494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1600" baseline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參數與功能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1600" baseline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設定值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07057933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aseline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XY</a:t>
                          </a:r>
                          <a:r>
                            <a:rPr lang="zh-TW" altLang="en-US" sz="1600" baseline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離散搜尋區域距離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2"/>
                          <a:stretch>
                            <a:fillRect l="-225000" t="-103636" r="-1818" b="-43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3707627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1600" baseline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空間距離解析度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aseline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0.1m</a:t>
                          </a:r>
                          <a:endParaRPr lang="zh-TW" altLang="en-US" sz="16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5528178"/>
                      </a:ext>
                    </a:extLst>
                  </a:tr>
                  <a:tr h="35947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2"/>
                          <a:stretch>
                            <a:fillRect l="-202" t="-284746" r="-45344" b="-208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2"/>
                          <a:stretch>
                            <a:fillRect l="-225000" t="-284746" r="-1818" b="-208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4669510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1600" baseline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空間角度解析度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aseline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2</a:t>
                          </a:r>
                          <a:r>
                            <a:rPr lang="zh-TW" altLang="en-US" sz="1600" baseline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82272637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1600" baseline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高斯模糊標準差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600" baseline="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</a:rPr>
                            <a:t>0.03</a:t>
                          </a:r>
                          <a:endParaRPr lang="zh-TW" altLang="en-US" sz="1600" baseline="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87745116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D465668-20F1-E579-96FC-EA43C9987C91}"/>
              </a:ext>
            </a:extLst>
          </p:cNvPr>
          <p:cNvGraphicFramePr>
            <a:graphicFrameLocks noGrp="1"/>
          </p:cNvGraphicFramePr>
          <p:nvPr/>
        </p:nvGraphicFramePr>
        <p:xfrm>
          <a:off x="1028416" y="4645335"/>
          <a:ext cx="3489129" cy="1711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160">
                  <a:extLst>
                    <a:ext uri="{9D8B030D-6E8A-4147-A177-3AD203B41FA5}">
                      <a16:colId xmlns:a16="http://schemas.microsoft.com/office/drawing/2014/main" val="386373058"/>
                    </a:ext>
                  </a:extLst>
                </a:gridCol>
                <a:gridCol w="1086969">
                  <a:extLst>
                    <a:ext uri="{9D8B030D-6E8A-4147-A177-3AD203B41FA5}">
                      <a16:colId xmlns:a16="http://schemas.microsoft.com/office/drawing/2014/main" val="4268884659"/>
                    </a:ext>
                  </a:extLst>
                </a:gridCol>
              </a:tblGrid>
              <a:tr h="3422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參數與功能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設定值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105158"/>
                  </a:ext>
                </a:extLst>
              </a:tr>
              <a:tr h="3422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距離偏離懲罰係數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5.0</a:t>
                      </a:r>
                      <a:endParaRPr lang="zh-TW" altLang="en-US" sz="16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9056585"/>
                  </a:ext>
                </a:extLst>
              </a:tr>
              <a:tr h="3422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角度偏離懲罰係數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6.0</a:t>
                      </a:r>
                      <a:endParaRPr lang="zh-TW" altLang="en-US" sz="16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8115554"/>
                  </a:ext>
                </a:extLst>
              </a:tr>
              <a:tr h="3422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距離偏離懲罰最大值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0.99</a:t>
                      </a:r>
                      <a:endParaRPr lang="zh-TW" altLang="en-US" sz="16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7075983"/>
                  </a:ext>
                </a:extLst>
              </a:tr>
              <a:tr h="3422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角度偏離懲罰最大值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0.99</a:t>
                      </a:r>
                      <a:endParaRPr lang="zh-TW" altLang="en-US" sz="16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4488680"/>
                  </a:ext>
                </a:extLst>
              </a:tr>
            </a:tbl>
          </a:graphicData>
        </a:graphic>
      </p:graphicFrame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7296B0B9-1C40-C255-EF2D-048EADFD8F96}"/>
              </a:ext>
            </a:extLst>
          </p:cNvPr>
          <p:cNvSpPr txBox="1">
            <a:spLocks/>
          </p:cNvSpPr>
          <p:nvPr/>
        </p:nvSpPr>
        <p:spPr>
          <a:xfrm>
            <a:off x="5434672" y="1971086"/>
            <a:ext cx="6321976" cy="45194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成功率：</a:t>
            </a:r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8/8</a:t>
            </a:r>
            <a:r>
              <a:rPr lang="zh-TW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endParaRPr lang="en-US" altLang="zh-TW" sz="16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最大速度：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0.4m/s</a:t>
            </a:r>
          </a:p>
          <a:p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最大角速度：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0.5rad/s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成功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demo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hlinkClick r:id="rId3"/>
              </a:rPr>
              <a:t>https://www.youtube.com/watch?v=_lqm8wwqqzs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32340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7170</TotalTime>
  <Words>718</Words>
  <Application>Microsoft Office PowerPoint</Application>
  <PresentationFormat>寬螢幕</PresentationFormat>
  <Paragraphs>166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Times New Roman</vt:lpstr>
      <vt:lpstr>Office 佈景主題</vt:lpstr>
      <vt:lpstr>deergo_report </vt:lpstr>
      <vt:lpstr>Slam建圖</vt:lpstr>
      <vt:lpstr>Slam toolbox 定位演算法</vt:lpstr>
      <vt:lpstr>Slam toolbox 定位演算法</vt:lpstr>
      <vt:lpstr>Slam toolbox 定位演算法</vt:lpstr>
      <vt:lpstr>參數配置(1)以及實驗案例</vt:lpstr>
      <vt:lpstr>參數配置(2)以及實驗案例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M11403603</dc:creator>
  <cp:lastModifiedBy>M11403603</cp:lastModifiedBy>
  <cp:revision>52</cp:revision>
  <dcterms:created xsi:type="dcterms:W3CDTF">2026-06-15T07:51:41Z</dcterms:created>
  <dcterms:modified xsi:type="dcterms:W3CDTF">2026-09-10T14:18:41Z</dcterms:modified>
</cp:coreProperties>
</file>